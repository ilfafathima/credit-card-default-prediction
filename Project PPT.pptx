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85" r:id="rId4"/>
  </p:sldMasterIdLst>
  <p:notesMasterIdLst>
    <p:notesMasterId r:id="rId18"/>
  </p:notesMasterIdLst>
  <p:sldIdLst>
    <p:sldId id="2146847097" r:id="rId5"/>
    <p:sldId id="2146847109" r:id="rId6"/>
    <p:sldId id="2146847098" r:id="rId7"/>
    <p:sldId id="2146847127" r:id="rId8"/>
    <p:sldId id="265" r:id="rId9"/>
    <p:sldId id="2146847125" r:id="rId10"/>
    <p:sldId id="2146847111" r:id="rId11"/>
    <p:sldId id="2146847123" r:id="rId12"/>
    <p:sldId id="2146847128" r:id="rId13"/>
    <p:sldId id="2146847129" r:id="rId14"/>
    <p:sldId id="2146847069" r:id="rId15"/>
    <p:sldId id="268" r:id="rId16"/>
    <p:sldId id="21468471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6621CE-6EA4-41BA-B079-989D0A91F372}">
          <p14:sldIdLst>
            <p14:sldId id="2146847097"/>
            <p14:sldId id="2146847109"/>
            <p14:sldId id="2146847098"/>
            <p14:sldId id="2146847127"/>
            <p14:sldId id="265"/>
            <p14:sldId id="2146847125"/>
            <p14:sldId id="2146847111"/>
            <p14:sldId id="2146847123"/>
            <p14:sldId id="2146847128"/>
            <p14:sldId id="2146847129"/>
            <p14:sldId id="2146847069"/>
            <p14:sldId id="268"/>
            <p14:sldId id="2146847122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9C7287-06A9-A614-40BD-05530F5E1D5B}" name="Guest User" initials="GU" userId="S::urn:spo:tenantanon#ad06ef22-d6dc-4a55-b4c1-c3a158f5f147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6384D"/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311" autoAdjust="0"/>
  </p:normalViewPr>
  <p:slideViewPr>
    <p:cSldViewPr snapToGrid="0">
      <p:cViewPr>
        <p:scale>
          <a:sx n="80" d="100"/>
          <a:sy n="80" d="100"/>
        </p:scale>
        <p:origin x="1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106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929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7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72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35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6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0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4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2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9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0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88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uciml/default-of-credit-card-clients-datase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792C4-54B0-2580-F85F-894C12465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35069"/>
            <a:ext cx="12193363" cy="2539361"/>
          </a:xfrm>
        </p:spPr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Credit card Risk Prediction </a:t>
            </a:r>
            <a:endParaRPr lang="en-US" sz="4000" dirty="0">
              <a:solidFill>
                <a:schemeClr val="accent5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BAE76-FD2F-74A4-937C-9BC95177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7EF7B-7BC5-4B07-AF10-8CF35A04AF12}" type="datetime1">
              <a:rPr lang="en-US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5429E-93A2-2430-2E44-1DBAC9D1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879B47A-631A-57AB-4EA5-F17F7944F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383" y="4400550"/>
            <a:ext cx="8504817" cy="2884816"/>
          </a:xfrm>
        </p:spPr>
        <p:txBody>
          <a:bodyPr>
            <a:normAutofit/>
          </a:bodyPr>
          <a:lstStyle/>
          <a:p>
            <a:pPr algn="just"/>
            <a:r>
              <a:rPr lang="en-GB" sz="2400" dirty="0"/>
              <a:t>Ilfa Fathima</a:t>
            </a:r>
          </a:p>
          <a:p>
            <a:pPr algn="just"/>
            <a:r>
              <a:rPr lang="en-GB" sz="2400" dirty="0"/>
              <a:t>University of Kerala</a:t>
            </a:r>
            <a:endParaRPr lang="en-GB" dirty="0"/>
          </a:p>
          <a:p>
            <a:pPr algn="just"/>
            <a:endParaRPr lang="en-GB" sz="2400" dirty="0"/>
          </a:p>
          <a:p>
            <a:pPr algn="just"/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11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E511-11C9-D463-3659-A4CAB3FB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15" y="922096"/>
            <a:ext cx="10682085" cy="902814"/>
          </a:xfrm>
        </p:spPr>
        <p:txBody>
          <a:bodyPr/>
          <a:lstStyle/>
          <a:p>
            <a:r>
              <a:rPr lang="en-US" sz="3600" b="1" dirty="0">
                <a:solidFill>
                  <a:schemeClr val="accent5">
                    <a:lumMod val="49000"/>
                  </a:schemeClr>
                </a:solidFill>
                <a:latin typeface="Algerian"/>
              </a:rPr>
              <a:t>OUTLINE</a:t>
            </a:r>
            <a:endParaRPr lang="en-US" b="1" dirty="0">
              <a:solidFill>
                <a:schemeClr val="accent5">
                  <a:lumMod val="49000"/>
                </a:schemeClr>
              </a:solidFill>
              <a:latin typeface="Algeri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05114-36B5-3909-6C49-8F9401F72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15" y="1536107"/>
            <a:ext cx="10554068" cy="48086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 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of the project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Description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Approach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 and Deployment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 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rgbClr val="4040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0228-9A41-79DF-E371-A7249BB4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7F989-2241-4780-845B-3A8135E6A2AD}" type="datetime1">
              <a:rPr lang="en-US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3F0C6-76CD-697C-B232-7C6394A11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2E03B-1E89-32CF-1D6B-22F5ED2FD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78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7DD2-8B98-CF1A-9E77-B0F179D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072" y="898283"/>
            <a:ext cx="10691265" cy="1371030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49000"/>
                  </a:schemeClr>
                </a:solidFill>
                <a:latin typeface="Algerian"/>
                <a:cs typeface="Arial"/>
              </a:rPr>
              <a:t>Problem statement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03F21-2F4C-12D5-4ED8-1807B332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9D1F1-6779-46C8-AEB4-BBB6F9888EC1}" type="datetime1">
              <a:rPr lang="en-US"/>
              <a:t>1/23/2026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CE6C3-74CA-E572-347D-FCA47DBC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3D3EA-37B0-9E51-6905-D3CBBBD8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E5839D-9D8C-8D46-E07C-82722FC46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367" y="2169301"/>
            <a:ext cx="10691265" cy="363608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Challenge: Financial institutions face high default rates which directly impact profitability and capital reserves.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Characteristics: Using the UCI Taiwan dataset, we address an imbalanced class problem where only ~22% of clients default.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Objective: To move beyond traditional credit scoring by using behavioural data (payment history) and demographic data to predict default for the upcoming month.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Risk Metrics: Focus on Recall (identifying as many true defaulters as possible) to minimize the bank's exposure to bad debt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146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B0E0-AE3C-8D4B-F517-E5601BAE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CC948-502C-404D-B488-F745C05E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47875"/>
            <a:ext cx="10691265" cy="38813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•Develop an automated credit risk prediction system using supervised machine learning techniques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•Utilize historical customer data (demographic, billing, and repayment behaviour) to learn patterns associated with credit default.	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•Perform data preprocessing and feature engineering, including removal of non-informative identifiers and one-hot encoding of categorical variables.	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•Train and compare multiple machine learning models to identify the most effective approach for default prediction.	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•Incorporate a cost-sensitive decision strategy to prioritize the detection of high-risk customers.	</a:t>
            </a:r>
          </a:p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•Provide a decision support output that can assist financial institutions in credit approval and risk management processes.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6DDA6-9F62-B363-AC8F-66E165AC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58551-F8DD-44F1-886F-3EEA90779A70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5530F-DCEA-AD2D-D727-97BFBE72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F8353-5DAD-84CD-EB03-84943AB5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0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280" y="761148"/>
            <a:ext cx="11029616" cy="53613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5">
                    <a:lumMod val="49000"/>
                  </a:schemeClr>
                </a:solidFill>
                <a:latin typeface="Algerian"/>
                <a:ea typeface="+mj-lt"/>
                <a:cs typeface="+mj-lt"/>
              </a:rPr>
              <a:t>Objectives of the Project</a:t>
            </a:r>
            <a:endParaRPr lang="en-US" b="1">
              <a:solidFill>
                <a:schemeClr val="accent5">
                  <a:lumMod val="49000"/>
                </a:schemeClr>
              </a:solidFill>
              <a:latin typeface="Algeri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C4F75-F711-B0CD-1E17-3D46EA94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827" y="1971675"/>
            <a:ext cx="10691265" cy="45243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Quantification: Develop a predictive model to assign a probability of default for each client, rather than a simple "yes/no" guess.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Optimization: Prioritize the detection of actual defaulters (reducing False Negatives) to protect the institution’s capital.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Analysis: Identify key behavioural indicators—specifically repayment history that most strongly influence credit risk.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Benchmarking: Compare the performance of Logistic Regression (interpretability) against Random Forest (accuracy and robustness).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Readiness: Create a scalable pipeline that cleans, scales, and processes raw financial data for real-time decision-making.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CF04-DD3C-BDB2-2718-8D9C6570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A9909-3F0E-5A46-0ABC-12158C81A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216993"/>
            <a:ext cx="10691265" cy="2424014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Source: 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Kaggle -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of Credit Card Clients Dataset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https://www.kaggle.com/datasets/uciml/default-of-credit-card-clients-dataset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•Number of observations: 30,000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Number of features: 23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Target variable: Default payment (Yes/No)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DF9A2-B34A-DA45-7DC5-8B936A4B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58EB8-D3D2-4228-8B46-E814168A6307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2DD1-EC51-435D-9CB1-01AB67B1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017E9-AAEE-E599-17CF-DF9D069A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0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CC4D1-A699-B889-016B-0A6C1E1B5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A966D-633D-4ECD-67D2-F05626DB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956" y="767113"/>
            <a:ext cx="10587944" cy="59611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5">
                    <a:lumMod val="49000"/>
                  </a:schemeClr>
                </a:solidFill>
                <a:latin typeface="Algerian"/>
                <a:ea typeface="+mj-lt"/>
                <a:cs typeface="+mj-lt"/>
              </a:rPr>
              <a:t>System approach</a:t>
            </a:r>
            <a:endParaRPr lang="en-US" b="1" dirty="0">
              <a:solidFill>
                <a:schemeClr val="accent5">
                  <a:lumMod val="49000"/>
                </a:schemeClr>
              </a:solidFill>
              <a:latin typeface="Algeri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CABC3-C62E-8482-2EDA-CA14FDCAB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015" y="1362502"/>
            <a:ext cx="10443030" cy="54747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GB" dirty="0">
                <a:highlight>
                  <a:srgbClr val="FFFFFF"/>
                </a:highlight>
              </a:rPr>
              <a:t>Data Ingestion: Standardizing column headers and removing non-predictive features (e.g., ID).</a:t>
            </a:r>
            <a:br>
              <a:rPr lang="en-GB" sz="1400" dirty="0">
                <a:highlight>
                  <a:srgbClr val="FFFFFF"/>
                </a:highlight>
              </a:rPr>
            </a:br>
            <a:br>
              <a:rPr lang="en-GB" sz="1400" dirty="0">
                <a:highlight>
                  <a:srgbClr val="FFFFFF"/>
                </a:highlight>
              </a:rPr>
            </a:br>
            <a:r>
              <a:rPr lang="en-GB" dirty="0">
                <a:highlight>
                  <a:srgbClr val="FFFFFF"/>
                </a:highlight>
              </a:rPr>
              <a:t>Preprocessing: Handling Categorical Data: One-hot encoding for SEX, EDUCATION, and MARRIAGE.</a:t>
            </a:r>
            <a:br>
              <a:rPr lang="en-GB" sz="1400" dirty="0">
                <a:highlight>
                  <a:srgbClr val="FFFFFF"/>
                </a:highlight>
              </a:rPr>
            </a:br>
            <a:br>
              <a:rPr lang="en-GB" sz="1400" dirty="0">
                <a:highlight>
                  <a:srgbClr val="FFFFFF"/>
                </a:highlight>
              </a:rPr>
            </a:br>
            <a:r>
              <a:rPr lang="en-GB" dirty="0">
                <a:highlight>
                  <a:srgbClr val="FFFFFF"/>
                </a:highlight>
              </a:rPr>
              <a:t>Scaling: Applying Standard Scaler to normalize features like LIMIT_BAL and BILL_AMT.</a:t>
            </a:r>
            <a:br>
              <a:rPr lang="en-GB" sz="1400" dirty="0">
                <a:highlight>
                  <a:srgbClr val="FFFFFF"/>
                </a:highlight>
              </a:rPr>
            </a:br>
            <a:br>
              <a:rPr lang="en-GB" sz="1400" dirty="0">
                <a:highlight>
                  <a:srgbClr val="FFFFFF"/>
                </a:highlight>
              </a:rPr>
            </a:br>
            <a:r>
              <a:rPr lang="en-GB" dirty="0">
                <a:highlight>
                  <a:srgbClr val="FFFFFF"/>
                </a:highlight>
              </a:rPr>
              <a:t>Experimental Rigor: Utilizing a Stratified Train-Test Split to prevent bias and ensure the model learns from enough "Default" examples.</a:t>
            </a:r>
            <a:br>
              <a:rPr lang="en-GB" sz="1400" dirty="0">
                <a:highlight>
                  <a:srgbClr val="FFFFFF"/>
                </a:highlight>
              </a:rPr>
            </a:br>
            <a:br>
              <a:rPr lang="en-GB" sz="1400" dirty="0">
                <a:highlight>
                  <a:srgbClr val="FFFFFF"/>
                </a:highlight>
              </a:rPr>
            </a:br>
            <a:r>
              <a:rPr lang="en-GB" dirty="0">
                <a:highlight>
                  <a:srgbClr val="FFFFFF"/>
                </a:highlight>
              </a:rPr>
              <a:t>Leakage Prevention: Fitting transformers (scalers) only on the training set to simulate real-world data blindness.</a:t>
            </a:r>
          </a:p>
          <a:p>
            <a:pPr marL="305435" indent="-305435">
              <a:buFont typeface="Wingdings 2"/>
              <a:buChar char=""/>
            </a:pPr>
            <a:endParaRPr lang="en-GB" sz="1400" dirty="0">
              <a:solidFill>
                <a:schemeClr val="tx1"/>
              </a:solidFill>
              <a:highlight>
                <a:srgbClr val="FFFFFF"/>
              </a:highlight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8A5247C-2EC4-1268-9CEB-1050E77A4894}"/>
              </a:ext>
            </a:extLst>
          </p:cNvPr>
          <p:cNvSpPr txBox="1">
            <a:spLocks/>
          </p:cNvSpPr>
          <p:nvPr/>
        </p:nvSpPr>
        <p:spPr>
          <a:xfrm>
            <a:off x="797813" y="1341927"/>
            <a:ext cx="10717911" cy="52112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26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529D-B071-C5C4-F1B1-08F682D58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85CB-1721-435D-4841-6D3765EF4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956" y="767113"/>
            <a:ext cx="10587944" cy="59611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5">
                    <a:lumMod val="49000"/>
                  </a:schemeClr>
                </a:solidFill>
                <a:latin typeface="Algerian"/>
              </a:rPr>
              <a:t>Algorithm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72F6-440E-A1F9-39ED-062101984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6" y="1268524"/>
            <a:ext cx="11182350" cy="5589476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GB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Prediction Models (The "Brains")</a:t>
            </a:r>
          </a:p>
          <a:p>
            <a:pPr marL="0" indent="0">
              <a:buNone/>
            </a:pPr>
            <a:br>
              <a:rPr lang="en-GB" sz="14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 (The Baseline):</a:t>
            </a:r>
            <a:br>
              <a:rPr lang="en-GB" sz="14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 like a sophisticated weighted average .It gives us a clear look at how each factor (like age or debt) increases risk.</a:t>
            </a:r>
            <a:br>
              <a:rPr lang="en-GB" sz="14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4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(The "Committee"):</a:t>
            </a:r>
          </a:p>
          <a:p>
            <a:pPr marL="0" indent="0">
              <a:buNone/>
            </a:pPr>
            <a:br>
              <a:rPr lang="en-GB" sz="14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100 different "decision trees" to vote on a customer's risk.</a:t>
            </a:r>
            <a:br>
              <a:rPr lang="en-GB" sz="1400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highlight>
                  <a:srgbClr val="FF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much more accurate because it catches complex patterns—like a specific combination of high debt and late payments—that simpler models miss.</a:t>
            </a:r>
          </a:p>
          <a:p>
            <a:pPr marL="342900" indent="-342900">
              <a:buAutoNum type="arabicPeriod"/>
            </a:pPr>
            <a:endParaRPr lang="en-GB" sz="1400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9009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37708-0E56-B3F7-BF94-DB6670C84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Algorithm and deployment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D8AB0-14CA-69D5-758E-DED31118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82BA7-4D44-475E-80EE-C109E27FB000}" type="datetime1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E9782E-2B48-C55A-E6D1-1B61F194B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9DBFA-E6DF-FABB-85F5-5494A6101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24172E-ADCC-B70D-A512-B3805813DF94}"/>
              </a:ext>
            </a:extLst>
          </p:cNvPr>
          <p:cNvSpPr txBox="1"/>
          <p:nvPr/>
        </p:nvSpPr>
        <p:spPr>
          <a:xfrm>
            <a:off x="800100" y="2082016"/>
            <a:ext cx="10338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Deployment (Putting it to Work)</a:t>
            </a:r>
          </a:p>
          <a:p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Model Saving: We "freeze" the trained model into a single file so it can be moved from our coding environment into a real bank application.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The 0.3 Safety Switch: Most systems use a 0.5 (50/50) cutoff. We lowered our trigger to 0.3 to be extra cautious.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This ensures the bank flags high-risk customers early, even if they aren't 100% certain to default yet.</a:t>
            </a:r>
            <a:br>
              <a:rPr lang="en-GB" dirty="0"/>
            </a:br>
            <a:br>
              <a:rPr lang="en-GB" dirty="0"/>
            </a:br>
            <a:r>
              <a:rPr lang="en-GB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Real-Time API: * The model acts as a "security gate." When a customer's data is sent to the system, it returns a risk score and a "Yes/No" decision in milliseconds.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8062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4CD3-D1AF-A6DC-034F-E921B289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</a:rPr>
              <a:t>results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E5D28D-11B2-8533-DAC9-91AD51BE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1A576-B510-4B69-90EF-D8B0DB317FEB}" type="datetime1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3A61E-EFC9-4A94-7844-A37EB65E4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8A940-E0F0-215F-5480-19C8FCA1B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D643A1-F5EA-7FC1-80BB-2E83205E2BD0}"/>
              </a:ext>
            </a:extLst>
          </p:cNvPr>
          <p:cNvSpPr txBox="1"/>
          <p:nvPr/>
        </p:nvSpPr>
        <p:spPr>
          <a:xfrm>
            <a:off x="600634" y="1744524"/>
            <a:ext cx="11363325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Regression: Provided a solid baseline but struggled with the minority class (defaulters), often missing subtle risk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(Top Performer): Effectively captured non-linear relationships. It achieved higher stability and better identified the specific characteristics of high-risk individuals.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Predictive Drivers (Feature Importance)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of the Random Forest model revealed the most influential features: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PAY_0 (Most Important): The repayment status of the most recent month is the single biggest predictor of future default.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LIMIT_BAL: The total credit limit assigned to the user.</a:t>
            </a:r>
          </a:p>
          <a:p>
            <a:pPr lvl="1"/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BILL_AMT1: The most recent bill amount.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Insight: Behavioural data (how you paid last month) is far more predictive than demographic data (Age, Gender) in this dataset.</a:t>
            </a: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692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F9C4E-F9A6-3995-4CBF-E1CDA64C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0E8B7-01B2-0007-0857-D6A997619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17" y="1626425"/>
            <a:ext cx="10848212" cy="424757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 the Data: Use techniques like SMOTE to give the model more "Default" examples to learn from.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Alerts: Send an SMS to the bank's risk team the moment a customer's score crosses 0.3.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0666B82-BE67-E9A4-50AC-486F48F9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842" y="888478"/>
            <a:ext cx="10846774" cy="85784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  <a:cs typeface="Arial"/>
              </a:rPr>
              <a:t>Future scopes</a:t>
            </a:r>
            <a:endParaRPr lang="en-US" sz="3600" b="1" dirty="0">
              <a:solidFill>
                <a:schemeClr val="accent5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781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  <a:cs typeface="Arial"/>
              </a:rPr>
              <a:t>Conclusion</a:t>
            </a:r>
            <a:endParaRPr lang="en-US" sz="3600" dirty="0">
              <a:solidFill>
                <a:schemeClr val="accent5">
                  <a:lumMod val="50000"/>
                </a:schemeClr>
              </a:solidFill>
              <a:latin typeface="Algerian" panose="04020705040A02060702" pitchFamily="82" charset="0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9197-1582-E349-A91D-C36C405B7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96469"/>
            <a:ext cx="10691265" cy="27383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Performance: Ensemble methods (Random Forest) generally provide a better F1-score than linear models for this dataset.</a:t>
            </a:r>
            <a:b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Drivers: Repayment status in the most recent month (PAY_0) is the strongest indicator of future default.</a:t>
            </a:r>
            <a:b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 By shifting the threshold, we significantly reduced False Negatives, potentially saving the institution from significant capital loss at the cost of a few extra manual reviews (False Positives).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363AF-7004-CE1B-55F5-09E3BB513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5B21-281C-554D-0F5C-778E759F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50" y="676707"/>
            <a:ext cx="10691265" cy="8027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  <a:cs typeface="Arial"/>
              </a:rPr>
              <a:t> 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Algerian" panose="04020705040A02060702" pitchFamily="82" charset="0"/>
                <a:cs typeface="Arial"/>
              </a:rPr>
              <a:t>References</a:t>
            </a:r>
            <a:endParaRPr lang="en-US" sz="3600" dirty="0">
              <a:solidFill>
                <a:schemeClr val="accent5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D1DD4-63B8-8AE8-872F-525772C2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82" y="1472211"/>
            <a:ext cx="10691265" cy="44443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GB" b="1" dirty="0"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Yeh, I. C., &amp; Lien, C. H. (2009). The comparisons of data mining techniques for the predictive accuracy of probability of default of credit card clients.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 Documentation: Scikit-Learn Developers (2024). Standard Scaler and Random Forest Classifier documentation.</a:t>
            </a: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Context: UCI Machine Learning Repository: Default of Credit Card Clients Dataset</a:t>
            </a:r>
            <a:r>
              <a:rPr lang="en-GB" dirty="0"/>
              <a:t>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453769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43</TotalTime>
  <Words>1109</Words>
  <Application>Microsoft Office PowerPoint</Application>
  <PresentationFormat>Widescreen</PresentationFormat>
  <Paragraphs>96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</vt:lpstr>
      <vt:lpstr>Calibri</vt:lpstr>
      <vt:lpstr>Calisto MT</vt:lpstr>
      <vt:lpstr>Roboto</vt:lpstr>
      <vt:lpstr>Univers Condensed</vt:lpstr>
      <vt:lpstr>Wingdings 2</vt:lpstr>
      <vt:lpstr>ChronicleVTI</vt:lpstr>
      <vt:lpstr>Credit card Risk Prediction </vt:lpstr>
      <vt:lpstr>OUTLINE</vt:lpstr>
      <vt:lpstr>Problem statement</vt:lpstr>
      <vt:lpstr>Proposed solution</vt:lpstr>
      <vt:lpstr>Objectives of the Project</vt:lpstr>
      <vt:lpstr>Dataset description</vt:lpstr>
      <vt:lpstr>System approach</vt:lpstr>
      <vt:lpstr>Algorithm and deployment</vt:lpstr>
      <vt:lpstr>Algorithm and deployment</vt:lpstr>
      <vt:lpstr>results</vt:lpstr>
      <vt:lpstr>Future scopes</vt:lpstr>
      <vt:lpstr>Conclusion</vt:lpstr>
      <vt:lpstr> 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ilfafathima26@gmail.com</cp:lastModifiedBy>
  <cp:revision>18</cp:revision>
  <dcterms:created xsi:type="dcterms:W3CDTF">2021-05-26T16:50:10Z</dcterms:created>
  <dcterms:modified xsi:type="dcterms:W3CDTF">2026-01-23T16:18:05Z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